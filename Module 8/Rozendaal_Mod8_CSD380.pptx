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B02959-4879-4F3F-BA2A-966DFE9526C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1FE927A-1586-4819-A805-553763A4A249}">
      <dgm:prSet/>
      <dgm:spPr/>
      <dgm:t>
        <a:bodyPr/>
        <a:lstStyle/>
        <a:p>
          <a:r>
            <a:rPr lang="en-US"/>
            <a:t>A model that focuses on learning rather than blaming</a:t>
          </a:r>
        </a:p>
      </dgm:t>
    </dgm:pt>
    <dgm:pt modelId="{4884072C-A728-4578-AF48-678D9B60B5B6}" type="parTrans" cxnId="{0F38F907-147D-46A9-B203-64C9341B6137}">
      <dgm:prSet/>
      <dgm:spPr/>
      <dgm:t>
        <a:bodyPr/>
        <a:lstStyle/>
        <a:p>
          <a:endParaRPr lang="en-US"/>
        </a:p>
      </dgm:t>
    </dgm:pt>
    <dgm:pt modelId="{8C1643E0-04DD-483A-B632-0930BB4AB13C}" type="sibTrans" cxnId="{0F38F907-147D-46A9-B203-64C9341B6137}">
      <dgm:prSet/>
      <dgm:spPr/>
      <dgm:t>
        <a:bodyPr/>
        <a:lstStyle/>
        <a:p>
          <a:endParaRPr lang="en-US"/>
        </a:p>
      </dgm:t>
    </dgm:pt>
    <dgm:pt modelId="{91933C9C-FE06-43BD-B02F-63EEFE200374}">
      <dgm:prSet/>
      <dgm:spPr/>
      <dgm:t>
        <a:bodyPr/>
        <a:lstStyle/>
        <a:p>
          <a:r>
            <a:rPr lang="en-US"/>
            <a:t>Mistakes come from systematic failures not a single person</a:t>
          </a:r>
        </a:p>
      </dgm:t>
    </dgm:pt>
    <dgm:pt modelId="{08EB2129-AF0F-46E5-BC5A-B64FBEAE6815}" type="parTrans" cxnId="{13F87C8D-354F-4A58-96DD-632899672C1C}">
      <dgm:prSet/>
      <dgm:spPr/>
      <dgm:t>
        <a:bodyPr/>
        <a:lstStyle/>
        <a:p>
          <a:endParaRPr lang="en-US"/>
        </a:p>
      </dgm:t>
    </dgm:pt>
    <dgm:pt modelId="{1C081133-4CD9-42A3-B6AD-4BD5A412A658}" type="sibTrans" cxnId="{13F87C8D-354F-4A58-96DD-632899672C1C}">
      <dgm:prSet/>
      <dgm:spPr/>
      <dgm:t>
        <a:bodyPr/>
        <a:lstStyle/>
        <a:p>
          <a:endParaRPr lang="en-US"/>
        </a:p>
      </dgm:t>
    </dgm:pt>
    <dgm:pt modelId="{6421C362-854A-4093-A29E-0C1DDD2D3DB0}">
      <dgm:prSet/>
      <dgm:spPr/>
      <dgm:t>
        <a:bodyPr/>
        <a:lstStyle/>
        <a:p>
          <a:r>
            <a:rPr lang="en-US"/>
            <a:t>Organizations should respond fairly and consistently</a:t>
          </a:r>
        </a:p>
      </dgm:t>
    </dgm:pt>
    <dgm:pt modelId="{A445FACB-F7C6-4D8E-AF23-CCE7FB0AAE93}" type="parTrans" cxnId="{2A8C79EF-8E96-4F3B-BB3E-599CE7A53B58}">
      <dgm:prSet/>
      <dgm:spPr/>
      <dgm:t>
        <a:bodyPr/>
        <a:lstStyle/>
        <a:p>
          <a:endParaRPr lang="en-US"/>
        </a:p>
      </dgm:t>
    </dgm:pt>
    <dgm:pt modelId="{EC3DC42A-D8CA-434D-95B6-3D32804E7209}" type="sibTrans" cxnId="{2A8C79EF-8E96-4F3B-BB3E-599CE7A53B58}">
      <dgm:prSet/>
      <dgm:spPr/>
      <dgm:t>
        <a:bodyPr/>
        <a:lstStyle/>
        <a:p>
          <a:endParaRPr lang="en-US"/>
        </a:p>
      </dgm:t>
    </dgm:pt>
    <dgm:pt modelId="{1C30E711-609B-46AF-89FC-F5C20246588F}" type="pres">
      <dgm:prSet presAssocID="{26B02959-4879-4F3F-BA2A-966DFE9526C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9ABF5C-A371-49D2-9645-5ACB7B583C66}" type="pres">
      <dgm:prSet presAssocID="{61FE927A-1586-4819-A805-553763A4A249}" presName="hierRoot1" presStyleCnt="0"/>
      <dgm:spPr/>
    </dgm:pt>
    <dgm:pt modelId="{7A0E6373-C40D-4E40-B569-3FE437C31E39}" type="pres">
      <dgm:prSet presAssocID="{61FE927A-1586-4819-A805-553763A4A249}" presName="composite" presStyleCnt="0"/>
      <dgm:spPr/>
    </dgm:pt>
    <dgm:pt modelId="{7E6C1260-5070-468B-9A0F-D6AF797AF3CD}" type="pres">
      <dgm:prSet presAssocID="{61FE927A-1586-4819-A805-553763A4A249}" presName="background" presStyleLbl="node0" presStyleIdx="0" presStyleCnt="3"/>
      <dgm:spPr/>
    </dgm:pt>
    <dgm:pt modelId="{A323C8D1-DDEF-4B59-B736-06F7857D9672}" type="pres">
      <dgm:prSet presAssocID="{61FE927A-1586-4819-A805-553763A4A249}" presName="text" presStyleLbl="fgAcc0" presStyleIdx="0" presStyleCnt="3">
        <dgm:presLayoutVars>
          <dgm:chPref val="3"/>
        </dgm:presLayoutVars>
      </dgm:prSet>
      <dgm:spPr/>
    </dgm:pt>
    <dgm:pt modelId="{33D99311-838E-477B-94B9-DCD8F2A1F4CD}" type="pres">
      <dgm:prSet presAssocID="{61FE927A-1586-4819-A805-553763A4A249}" presName="hierChild2" presStyleCnt="0"/>
      <dgm:spPr/>
    </dgm:pt>
    <dgm:pt modelId="{D255FD43-EF9B-43BE-A1F7-FF19B13D9FAB}" type="pres">
      <dgm:prSet presAssocID="{91933C9C-FE06-43BD-B02F-63EEFE200374}" presName="hierRoot1" presStyleCnt="0"/>
      <dgm:spPr/>
    </dgm:pt>
    <dgm:pt modelId="{89C27280-0D8F-43F7-89CE-5B16F8C16CCA}" type="pres">
      <dgm:prSet presAssocID="{91933C9C-FE06-43BD-B02F-63EEFE200374}" presName="composite" presStyleCnt="0"/>
      <dgm:spPr/>
    </dgm:pt>
    <dgm:pt modelId="{088DBD93-D9FA-4D8D-8F58-B872F9326E2A}" type="pres">
      <dgm:prSet presAssocID="{91933C9C-FE06-43BD-B02F-63EEFE200374}" presName="background" presStyleLbl="node0" presStyleIdx="1" presStyleCnt="3"/>
      <dgm:spPr/>
    </dgm:pt>
    <dgm:pt modelId="{FC1AE6CF-C0D8-451B-B9FF-6C1C4734D5C3}" type="pres">
      <dgm:prSet presAssocID="{91933C9C-FE06-43BD-B02F-63EEFE200374}" presName="text" presStyleLbl="fgAcc0" presStyleIdx="1" presStyleCnt="3">
        <dgm:presLayoutVars>
          <dgm:chPref val="3"/>
        </dgm:presLayoutVars>
      </dgm:prSet>
      <dgm:spPr/>
    </dgm:pt>
    <dgm:pt modelId="{8DA5ACEC-6569-4A3A-A737-54EC6D6496CC}" type="pres">
      <dgm:prSet presAssocID="{91933C9C-FE06-43BD-B02F-63EEFE200374}" presName="hierChild2" presStyleCnt="0"/>
      <dgm:spPr/>
    </dgm:pt>
    <dgm:pt modelId="{9A4B03C2-46D8-4D7B-AEA0-6316DC441E03}" type="pres">
      <dgm:prSet presAssocID="{6421C362-854A-4093-A29E-0C1DDD2D3DB0}" presName="hierRoot1" presStyleCnt="0"/>
      <dgm:spPr/>
    </dgm:pt>
    <dgm:pt modelId="{3B60A8DD-EE83-40E2-BB1B-203ACF140760}" type="pres">
      <dgm:prSet presAssocID="{6421C362-854A-4093-A29E-0C1DDD2D3DB0}" presName="composite" presStyleCnt="0"/>
      <dgm:spPr/>
    </dgm:pt>
    <dgm:pt modelId="{C53FED62-C720-4368-BC27-4E8C50D3AC24}" type="pres">
      <dgm:prSet presAssocID="{6421C362-854A-4093-A29E-0C1DDD2D3DB0}" presName="background" presStyleLbl="node0" presStyleIdx="2" presStyleCnt="3"/>
      <dgm:spPr/>
    </dgm:pt>
    <dgm:pt modelId="{D3CFBDAC-3F7D-4784-B00B-54164EBE77BA}" type="pres">
      <dgm:prSet presAssocID="{6421C362-854A-4093-A29E-0C1DDD2D3DB0}" presName="text" presStyleLbl="fgAcc0" presStyleIdx="2" presStyleCnt="3">
        <dgm:presLayoutVars>
          <dgm:chPref val="3"/>
        </dgm:presLayoutVars>
      </dgm:prSet>
      <dgm:spPr/>
    </dgm:pt>
    <dgm:pt modelId="{A91DD8C9-DBDF-4D07-BEC5-AC4F2ED0C2CF}" type="pres">
      <dgm:prSet presAssocID="{6421C362-854A-4093-A29E-0C1DDD2D3DB0}" presName="hierChild2" presStyleCnt="0"/>
      <dgm:spPr/>
    </dgm:pt>
  </dgm:ptLst>
  <dgm:cxnLst>
    <dgm:cxn modelId="{39FC3406-3302-4FCD-82E4-A42F693BE72B}" type="presOf" srcId="{6421C362-854A-4093-A29E-0C1DDD2D3DB0}" destId="{D3CFBDAC-3F7D-4784-B00B-54164EBE77BA}" srcOrd="0" destOrd="0" presId="urn:microsoft.com/office/officeart/2005/8/layout/hierarchy1"/>
    <dgm:cxn modelId="{0F38F907-147D-46A9-B203-64C9341B6137}" srcId="{26B02959-4879-4F3F-BA2A-966DFE9526C1}" destId="{61FE927A-1586-4819-A805-553763A4A249}" srcOrd="0" destOrd="0" parTransId="{4884072C-A728-4578-AF48-678D9B60B5B6}" sibTransId="{8C1643E0-04DD-483A-B632-0930BB4AB13C}"/>
    <dgm:cxn modelId="{87C5FC4F-7667-4326-A699-78CC4BC82DAE}" type="presOf" srcId="{91933C9C-FE06-43BD-B02F-63EEFE200374}" destId="{FC1AE6CF-C0D8-451B-B9FF-6C1C4734D5C3}" srcOrd="0" destOrd="0" presId="urn:microsoft.com/office/officeart/2005/8/layout/hierarchy1"/>
    <dgm:cxn modelId="{041BF970-E260-4C12-9A13-DA6165423602}" type="presOf" srcId="{26B02959-4879-4F3F-BA2A-966DFE9526C1}" destId="{1C30E711-609B-46AF-89FC-F5C20246588F}" srcOrd="0" destOrd="0" presId="urn:microsoft.com/office/officeart/2005/8/layout/hierarchy1"/>
    <dgm:cxn modelId="{13F87C8D-354F-4A58-96DD-632899672C1C}" srcId="{26B02959-4879-4F3F-BA2A-966DFE9526C1}" destId="{91933C9C-FE06-43BD-B02F-63EEFE200374}" srcOrd="1" destOrd="0" parTransId="{08EB2129-AF0F-46E5-BC5A-B64FBEAE6815}" sibTransId="{1C081133-4CD9-42A3-B6AD-4BD5A412A658}"/>
    <dgm:cxn modelId="{2156AFA0-0FB0-4FA8-98FA-D25893EED52B}" type="presOf" srcId="{61FE927A-1586-4819-A805-553763A4A249}" destId="{A323C8D1-DDEF-4B59-B736-06F7857D9672}" srcOrd="0" destOrd="0" presId="urn:microsoft.com/office/officeart/2005/8/layout/hierarchy1"/>
    <dgm:cxn modelId="{2A8C79EF-8E96-4F3B-BB3E-599CE7A53B58}" srcId="{26B02959-4879-4F3F-BA2A-966DFE9526C1}" destId="{6421C362-854A-4093-A29E-0C1DDD2D3DB0}" srcOrd="2" destOrd="0" parTransId="{A445FACB-F7C6-4D8E-AF23-CCE7FB0AAE93}" sibTransId="{EC3DC42A-D8CA-434D-95B6-3D32804E7209}"/>
    <dgm:cxn modelId="{6D1EF5F2-DA3E-42C5-B131-CF839E9467CB}" type="presParOf" srcId="{1C30E711-609B-46AF-89FC-F5C20246588F}" destId="{F29ABF5C-A371-49D2-9645-5ACB7B583C66}" srcOrd="0" destOrd="0" presId="urn:microsoft.com/office/officeart/2005/8/layout/hierarchy1"/>
    <dgm:cxn modelId="{51EA7478-5F59-474D-8748-80DF7E3E1805}" type="presParOf" srcId="{F29ABF5C-A371-49D2-9645-5ACB7B583C66}" destId="{7A0E6373-C40D-4E40-B569-3FE437C31E39}" srcOrd="0" destOrd="0" presId="urn:microsoft.com/office/officeart/2005/8/layout/hierarchy1"/>
    <dgm:cxn modelId="{4697AE48-7853-4208-9D23-8EAF6DF11CDB}" type="presParOf" srcId="{7A0E6373-C40D-4E40-B569-3FE437C31E39}" destId="{7E6C1260-5070-468B-9A0F-D6AF797AF3CD}" srcOrd="0" destOrd="0" presId="urn:microsoft.com/office/officeart/2005/8/layout/hierarchy1"/>
    <dgm:cxn modelId="{8611D0E9-4CC6-42A1-8BEC-7F9AB7D0D3CE}" type="presParOf" srcId="{7A0E6373-C40D-4E40-B569-3FE437C31E39}" destId="{A323C8D1-DDEF-4B59-B736-06F7857D9672}" srcOrd="1" destOrd="0" presId="urn:microsoft.com/office/officeart/2005/8/layout/hierarchy1"/>
    <dgm:cxn modelId="{BD54294A-F123-448B-875D-4573CE7B0B44}" type="presParOf" srcId="{F29ABF5C-A371-49D2-9645-5ACB7B583C66}" destId="{33D99311-838E-477B-94B9-DCD8F2A1F4CD}" srcOrd="1" destOrd="0" presId="urn:microsoft.com/office/officeart/2005/8/layout/hierarchy1"/>
    <dgm:cxn modelId="{7D1D7CA9-AA98-4DB5-BE93-DED952C90ACF}" type="presParOf" srcId="{1C30E711-609B-46AF-89FC-F5C20246588F}" destId="{D255FD43-EF9B-43BE-A1F7-FF19B13D9FAB}" srcOrd="1" destOrd="0" presId="urn:microsoft.com/office/officeart/2005/8/layout/hierarchy1"/>
    <dgm:cxn modelId="{28C98376-7AB2-4842-8608-46CFED3ACED7}" type="presParOf" srcId="{D255FD43-EF9B-43BE-A1F7-FF19B13D9FAB}" destId="{89C27280-0D8F-43F7-89CE-5B16F8C16CCA}" srcOrd="0" destOrd="0" presId="urn:microsoft.com/office/officeart/2005/8/layout/hierarchy1"/>
    <dgm:cxn modelId="{94E36058-AF42-4443-84EA-8A25D35D32BD}" type="presParOf" srcId="{89C27280-0D8F-43F7-89CE-5B16F8C16CCA}" destId="{088DBD93-D9FA-4D8D-8F58-B872F9326E2A}" srcOrd="0" destOrd="0" presId="urn:microsoft.com/office/officeart/2005/8/layout/hierarchy1"/>
    <dgm:cxn modelId="{7D479BC2-1FDE-4C02-8DA2-C12AA08B0B83}" type="presParOf" srcId="{89C27280-0D8F-43F7-89CE-5B16F8C16CCA}" destId="{FC1AE6CF-C0D8-451B-B9FF-6C1C4734D5C3}" srcOrd="1" destOrd="0" presId="urn:microsoft.com/office/officeart/2005/8/layout/hierarchy1"/>
    <dgm:cxn modelId="{2A90C728-7CB7-4404-AAD8-D143E4D2166F}" type="presParOf" srcId="{D255FD43-EF9B-43BE-A1F7-FF19B13D9FAB}" destId="{8DA5ACEC-6569-4A3A-A737-54EC6D6496CC}" srcOrd="1" destOrd="0" presId="urn:microsoft.com/office/officeart/2005/8/layout/hierarchy1"/>
    <dgm:cxn modelId="{040C44A6-187F-404E-B538-65A02BD629A8}" type="presParOf" srcId="{1C30E711-609B-46AF-89FC-F5C20246588F}" destId="{9A4B03C2-46D8-4D7B-AEA0-6316DC441E03}" srcOrd="2" destOrd="0" presId="urn:microsoft.com/office/officeart/2005/8/layout/hierarchy1"/>
    <dgm:cxn modelId="{DD95854A-D04F-4C85-B8B3-2B9794F3FF66}" type="presParOf" srcId="{9A4B03C2-46D8-4D7B-AEA0-6316DC441E03}" destId="{3B60A8DD-EE83-40E2-BB1B-203ACF140760}" srcOrd="0" destOrd="0" presId="urn:microsoft.com/office/officeart/2005/8/layout/hierarchy1"/>
    <dgm:cxn modelId="{7C8169D0-EC28-453C-BEE0-ED9BBBBFAF10}" type="presParOf" srcId="{3B60A8DD-EE83-40E2-BB1B-203ACF140760}" destId="{C53FED62-C720-4368-BC27-4E8C50D3AC24}" srcOrd="0" destOrd="0" presId="urn:microsoft.com/office/officeart/2005/8/layout/hierarchy1"/>
    <dgm:cxn modelId="{3C638949-9147-4460-84CA-173A927733BD}" type="presParOf" srcId="{3B60A8DD-EE83-40E2-BB1B-203ACF140760}" destId="{D3CFBDAC-3F7D-4784-B00B-54164EBE77BA}" srcOrd="1" destOrd="0" presId="urn:microsoft.com/office/officeart/2005/8/layout/hierarchy1"/>
    <dgm:cxn modelId="{55456008-161A-4094-A5D2-ADE12560AFC8}" type="presParOf" srcId="{9A4B03C2-46D8-4D7B-AEA0-6316DC441E03}" destId="{A91DD8C9-DBDF-4D07-BEC5-AC4F2ED0C2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C7E229-8E7F-4D69-8292-559E81AFBC0C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642EAF47-F71B-49B7-863C-CCEB6AFAC890}">
      <dgm:prSet/>
      <dgm:spPr/>
      <dgm:t>
        <a:bodyPr/>
        <a:lstStyle/>
        <a:p>
          <a:r>
            <a:rPr lang="en-US"/>
            <a:t>Employees don’t understand how investigations work</a:t>
          </a:r>
        </a:p>
      </dgm:t>
    </dgm:pt>
    <dgm:pt modelId="{9023CA6E-B2C9-4B49-A58F-62F1871584DD}" type="parTrans" cxnId="{04B378EF-5A75-4818-A050-463D08E998A0}">
      <dgm:prSet/>
      <dgm:spPr/>
      <dgm:t>
        <a:bodyPr/>
        <a:lstStyle/>
        <a:p>
          <a:endParaRPr lang="en-US"/>
        </a:p>
      </dgm:t>
    </dgm:pt>
    <dgm:pt modelId="{458A62C1-AAAF-4FBA-93DD-6F3790C23AD7}" type="sibTrans" cxnId="{04B378EF-5A75-4818-A050-463D08E998A0}">
      <dgm:prSet/>
      <dgm:spPr/>
      <dgm:t>
        <a:bodyPr/>
        <a:lstStyle/>
        <a:p>
          <a:endParaRPr lang="en-US"/>
        </a:p>
      </dgm:t>
    </dgm:pt>
    <dgm:pt modelId="{C91B42CA-6FAC-4B7B-B5D3-F9973F693D09}">
      <dgm:prSet/>
      <dgm:spPr/>
      <dgm:t>
        <a:bodyPr/>
        <a:lstStyle/>
        <a:p>
          <a:r>
            <a:rPr lang="en-US"/>
            <a:t>The line is blurry between human error and negligence</a:t>
          </a:r>
        </a:p>
      </dgm:t>
    </dgm:pt>
    <dgm:pt modelId="{77D2545C-B2B3-48B9-A63E-21D4DD703527}" type="parTrans" cxnId="{02EF3C1A-4956-446F-B8E0-98807754DE1D}">
      <dgm:prSet/>
      <dgm:spPr/>
      <dgm:t>
        <a:bodyPr/>
        <a:lstStyle/>
        <a:p>
          <a:endParaRPr lang="en-US"/>
        </a:p>
      </dgm:t>
    </dgm:pt>
    <dgm:pt modelId="{2C358939-157E-4776-9A50-FD74E67C3AD8}" type="sibTrans" cxnId="{02EF3C1A-4956-446F-B8E0-98807754DE1D}">
      <dgm:prSet/>
      <dgm:spPr/>
      <dgm:t>
        <a:bodyPr/>
        <a:lstStyle/>
        <a:p>
          <a:endParaRPr lang="en-US"/>
        </a:p>
      </dgm:t>
    </dgm:pt>
    <dgm:pt modelId="{50752783-BA95-476D-85C5-DFFD6CE4C52E}" type="pres">
      <dgm:prSet presAssocID="{D0C7E229-8E7F-4D69-8292-559E81AFBC0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A78D2B5-952F-47D4-A6AE-E03DD235C6FC}" type="pres">
      <dgm:prSet presAssocID="{642EAF47-F71B-49B7-863C-CCEB6AFAC890}" presName="hierRoot1" presStyleCnt="0"/>
      <dgm:spPr/>
    </dgm:pt>
    <dgm:pt modelId="{0550B3C0-8F3A-456F-8A78-D26474AB4526}" type="pres">
      <dgm:prSet presAssocID="{642EAF47-F71B-49B7-863C-CCEB6AFAC890}" presName="composite" presStyleCnt="0"/>
      <dgm:spPr/>
    </dgm:pt>
    <dgm:pt modelId="{E74585C8-9355-4CA6-867D-C29FACCEE373}" type="pres">
      <dgm:prSet presAssocID="{642EAF47-F71B-49B7-863C-CCEB6AFAC890}" presName="background" presStyleLbl="node0" presStyleIdx="0" presStyleCnt="2"/>
      <dgm:spPr/>
    </dgm:pt>
    <dgm:pt modelId="{D68E423B-7467-42D1-8869-D90E107D4F03}" type="pres">
      <dgm:prSet presAssocID="{642EAF47-F71B-49B7-863C-CCEB6AFAC890}" presName="text" presStyleLbl="fgAcc0" presStyleIdx="0" presStyleCnt="2">
        <dgm:presLayoutVars>
          <dgm:chPref val="3"/>
        </dgm:presLayoutVars>
      </dgm:prSet>
      <dgm:spPr/>
    </dgm:pt>
    <dgm:pt modelId="{1D62AF24-3B2F-4042-ACEC-BB19BADC987E}" type="pres">
      <dgm:prSet presAssocID="{642EAF47-F71B-49B7-863C-CCEB6AFAC890}" presName="hierChild2" presStyleCnt="0"/>
      <dgm:spPr/>
    </dgm:pt>
    <dgm:pt modelId="{02B8B9DC-7086-4F4D-A24F-5B4ECC04851E}" type="pres">
      <dgm:prSet presAssocID="{C91B42CA-6FAC-4B7B-B5D3-F9973F693D09}" presName="hierRoot1" presStyleCnt="0"/>
      <dgm:spPr/>
    </dgm:pt>
    <dgm:pt modelId="{8564463E-5605-4529-A7A3-CA496E59E797}" type="pres">
      <dgm:prSet presAssocID="{C91B42CA-6FAC-4B7B-B5D3-F9973F693D09}" presName="composite" presStyleCnt="0"/>
      <dgm:spPr/>
    </dgm:pt>
    <dgm:pt modelId="{50C2397D-23F5-4119-B60A-0D681E4D9D1E}" type="pres">
      <dgm:prSet presAssocID="{C91B42CA-6FAC-4B7B-B5D3-F9973F693D09}" presName="background" presStyleLbl="node0" presStyleIdx="1" presStyleCnt="2"/>
      <dgm:spPr/>
    </dgm:pt>
    <dgm:pt modelId="{314ACA86-5E7D-4A91-BD7E-AD42F94F7A87}" type="pres">
      <dgm:prSet presAssocID="{C91B42CA-6FAC-4B7B-B5D3-F9973F693D09}" presName="text" presStyleLbl="fgAcc0" presStyleIdx="1" presStyleCnt="2">
        <dgm:presLayoutVars>
          <dgm:chPref val="3"/>
        </dgm:presLayoutVars>
      </dgm:prSet>
      <dgm:spPr/>
    </dgm:pt>
    <dgm:pt modelId="{9E5C7F0B-1320-4788-9BA1-FBFC95B3FA0A}" type="pres">
      <dgm:prSet presAssocID="{C91B42CA-6FAC-4B7B-B5D3-F9973F693D09}" presName="hierChild2" presStyleCnt="0"/>
      <dgm:spPr/>
    </dgm:pt>
  </dgm:ptLst>
  <dgm:cxnLst>
    <dgm:cxn modelId="{02EF3C1A-4956-446F-B8E0-98807754DE1D}" srcId="{D0C7E229-8E7F-4D69-8292-559E81AFBC0C}" destId="{C91B42CA-6FAC-4B7B-B5D3-F9973F693D09}" srcOrd="1" destOrd="0" parTransId="{77D2545C-B2B3-48B9-A63E-21D4DD703527}" sibTransId="{2C358939-157E-4776-9A50-FD74E67C3AD8}"/>
    <dgm:cxn modelId="{72564DA3-84D9-4AF7-92B7-1DF193DD4279}" type="presOf" srcId="{D0C7E229-8E7F-4D69-8292-559E81AFBC0C}" destId="{50752783-BA95-476D-85C5-DFFD6CE4C52E}" srcOrd="0" destOrd="0" presId="urn:microsoft.com/office/officeart/2005/8/layout/hierarchy1"/>
    <dgm:cxn modelId="{3FA3F3D3-3F32-4FF6-9990-5ACD8D08A5B2}" type="presOf" srcId="{642EAF47-F71B-49B7-863C-CCEB6AFAC890}" destId="{D68E423B-7467-42D1-8869-D90E107D4F03}" srcOrd="0" destOrd="0" presId="urn:microsoft.com/office/officeart/2005/8/layout/hierarchy1"/>
    <dgm:cxn modelId="{65BA78E4-F729-48FD-8318-5057CBDE9A55}" type="presOf" srcId="{C91B42CA-6FAC-4B7B-B5D3-F9973F693D09}" destId="{314ACA86-5E7D-4A91-BD7E-AD42F94F7A87}" srcOrd="0" destOrd="0" presId="urn:microsoft.com/office/officeart/2005/8/layout/hierarchy1"/>
    <dgm:cxn modelId="{04B378EF-5A75-4818-A050-463D08E998A0}" srcId="{D0C7E229-8E7F-4D69-8292-559E81AFBC0C}" destId="{642EAF47-F71B-49B7-863C-CCEB6AFAC890}" srcOrd="0" destOrd="0" parTransId="{9023CA6E-B2C9-4B49-A58F-62F1871584DD}" sibTransId="{458A62C1-AAAF-4FBA-93DD-6F3790C23AD7}"/>
    <dgm:cxn modelId="{7169D8A2-6DB1-4F54-953C-1DD259C039FD}" type="presParOf" srcId="{50752783-BA95-476D-85C5-DFFD6CE4C52E}" destId="{9A78D2B5-952F-47D4-A6AE-E03DD235C6FC}" srcOrd="0" destOrd="0" presId="urn:microsoft.com/office/officeart/2005/8/layout/hierarchy1"/>
    <dgm:cxn modelId="{85051720-6E2E-4FFD-83AC-54D1350EA0FB}" type="presParOf" srcId="{9A78D2B5-952F-47D4-A6AE-E03DD235C6FC}" destId="{0550B3C0-8F3A-456F-8A78-D26474AB4526}" srcOrd="0" destOrd="0" presId="urn:microsoft.com/office/officeart/2005/8/layout/hierarchy1"/>
    <dgm:cxn modelId="{1B026B88-08DC-438E-8BC9-EDE2D75E371F}" type="presParOf" srcId="{0550B3C0-8F3A-456F-8A78-D26474AB4526}" destId="{E74585C8-9355-4CA6-867D-C29FACCEE373}" srcOrd="0" destOrd="0" presId="urn:microsoft.com/office/officeart/2005/8/layout/hierarchy1"/>
    <dgm:cxn modelId="{EDA2FDCC-1486-4B2B-BF31-6806955F2557}" type="presParOf" srcId="{0550B3C0-8F3A-456F-8A78-D26474AB4526}" destId="{D68E423B-7467-42D1-8869-D90E107D4F03}" srcOrd="1" destOrd="0" presId="urn:microsoft.com/office/officeart/2005/8/layout/hierarchy1"/>
    <dgm:cxn modelId="{9DDEA17C-EA3E-4C3E-A872-AABE1D4AE18C}" type="presParOf" srcId="{9A78D2B5-952F-47D4-A6AE-E03DD235C6FC}" destId="{1D62AF24-3B2F-4042-ACEC-BB19BADC987E}" srcOrd="1" destOrd="0" presId="urn:microsoft.com/office/officeart/2005/8/layout/hierarchy1"/>
    <dgm:cxn modelId="{B69F97BF-DDFA-49CB-9688-FA653065A131}" type="presParOf" srcId="{50752783-BA95-476D-85C5-DFFD6CE4C52E}" destId="{02B8B9DC-7086-4F4D-A24F-5B4ECC04851E}" srcOrd="1" destOrd="0" presId="urn:microsoft.com/office/officeart/2005/8/layout/hierarchy1"/>
    <dgm:cxn modelId="{9D731958-67EB-4AD7-AD69-B100CEB0F343}" type="presParOf" srcId="{02B8B9DC-7086-4F4D-A24F-5B4ECC04851E}" destId="{8564463E-5605-4529-A7A3-CA496E59E797}" srcOrd="0" destOrd="0" presId="urn:microsoft.com/office/officeart/2005/8/layout/hierarchy1"/>
    <dgm:cxn modelId="{449B2862-D467-4000-A65F-585CE66BA6BA}" type="presParOf" srcId="{8564463E-5605-4529-A7A3-CA496E59E797}" destId="{50C2397D-23F5-4119-B60A-0D681E4D9D1E}" srcOrd="0" destOrd="0" presId="urn:microsoft.com/office/officeart/2005/8/layout/hierarchy1"/>
    <dgm:cxn modelId="{EE0C87DA-0C48-49E9-8F53-068E8E4A1CC8}" type="presParOf" srcId="{8564463E-5605-4529-A7A3-CA496E59E797}" destId="{314ACA86-5E7D-4A91-BD7E-AD42F94F7A87}" srcOrd="1" destOrd="0" presId="urn:microsoft.com/office/officeart/2005/8/layout/hierarchy1"/>
    <dgm:cxn modelId="{15AF62B7-D577-4F26-BE87-6E8E41EC7DB7}" type="presParOf" srcId="{02B8B9DC-7086-4F4D-A24F-5B4ECC04851E}" destId="{9E5C7F0B-1320-4788-9BA1-FBFC95B3FA0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034C3D-DA2A-436A-A640-B572A39882F0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9DB2772-F965-4208-A49C-C215CF2BFA78}">
      <dgm:prSet/>
      <dgm:spPr/>
      <dgm:t>
        <a:bodyPr/>
        <a:lstStyle/>
        <a:p>
          <a:r>
            <a:rPr lang="en-US"/>
            <a:t>Staff may feel like Investigations are punishments</a:t>
          </a:r>
        </a:p>
      </dgm:t>
    </dgm:pt>
    <dgm:pt modelId="{8FF2D070-1BCA-4905-B22A-C46277CF7934}" type="parTrans" cxnId="{3D44900A-C959-49B3-A0FB-523BC9AF6AB0}">
      <dgm:prSet/>
      <dgm:spPr/>
      <dgm:t>
        <a:bodyPr/>
        <a:lstStyle/>
        <a:p>
          <a:endParaRPr lang="en-US"/>
        </a:p>
      </dgm:t>
    </dgm:pt>
    <dgm:pt modelId="{08905B21-2896-4641-83A7-873BDB4FE8FB}" type="sibTrans" cxnId="{3D44900A-C959-49B3-A0FB-523BC9AF6AB0}">
      <dgm:prSet/>
      <dgm:spPr/>
      <dgm:t>
        <a:bodyPr/>
        <a:lstStyle/>
        <a:p>
          <a:endParaRPr lang="en-US"/>
        </a:p>
      </dgm:t>
    </dgm:pt>
    <dgm:pt modelId="{E069A00A-EF72-41A2-AABC-717C153DE793}">
      <dgm:prSet/>
      <dgm:spPr/>
      <dgm:t>
        <a:bodyPr/>
        <a:lstStyle/>
        <a:p>
          <a:r>
            <a:rPr lang="en-US"/>
            <a:t>Reporting doesn’t lead to visible improvements</a:t>
          </a:r>
        </a:p>
      </dgm:t>
    </dgm:pt>
    <dgm:pt modelId="{7E73B0A9-9D88-4CEF-926B-EE7404211220}" type="parTrans" cxnId="{330C36C4-0342-40BD-B138-B17D7E319F25}">
      <dgm:prSet/>
      <dgm:spPr/>
      <dgm:t>
        <a:bodyPr/>
        <a:lstStyle/>
        <a:p>
          <a:endParaRPr lang="en-US"/>
        </a:p>
      </dgm:t>
    </dgm:pt>
    <dgm:pt modelId="{BE3CB12F-9CC7-470A-A9A1-09B17D1B44EC}" type="sibTrans" cxnId="{330C36C4-0342-40BD-B138-B17D7E319F25}">
      <dgm:prSet/>
      <dgm:spPr/>
      <dgm:t>
        <a:bodyPr/>
        <a:lstStyle/>
        <a:p>
          <a:endParaRPr lang="en-US"/>
        </a:p>
      </dgm:t>
    </dgm:pt>
    <dgm:pt modelId="{9849BF69-8512-4C6A-8F51-4295C6EBBD94}">
      <dgm:prSet/>
      <dgm:spPr/>
      <dgm:t>
        <a:bodyPr/>
        <a:lstStyle/>
        <a:p>
          <a:r>
            <a:rPr lang="en-US"/>
            <a:t>Leadership may focus more on compliance compared to learning</a:t>
          </a:r>
        </a:p>
      </dgm:t>
    </dgm:pt>
    <dgm:pt modelId="{D2BC2DE1-EEEC-44EF-895D-EBAC3E0BD019}" type="parTrans" cxnId="{A548542C-ACAE-4C17-BA89-01D48887DCD8}">
      <dgm:prSet/>
      <dgm:spPr/>
      <dgm:t>
        <a:bodyPr/>
        <a:lstStyle/>
        <a:p>
          <a:endParaRPr lang="en-US"/>
        </a:p>
      </dgm:t>
    </dgm:pt>
    <dgm:pt modelId="{7398B965-302F-4105-9AA6-B29D7A069B04}" type="sibTrans" cxnId="{A548542C-ACAE-4C17-BA89-01D48887DCD8}">
      <dgm:prSet/>
      <dgm:spPr/>
      <dgm:t>
        <a:bodyPr/>
        <a:lstStyle/>
        <a:p>
          <a:endParaRPr lang="en-US"/>
        </a:p>
      </dgm:t>
    </dgm:pt>
    <dgm:pt modelId="{A86A2786-C6D3-45A0-A857-D36069C95DAB}" type="pres">
      <dgm:prSet presAssocID="{F7034C3D-DA2A-436A-A640-B572A39882F0}" presName="linear" presStyleCnt="0">
        <dgm:presLayoutVars>
          <dgm:animLvl val="lvl"/>
          <dgm:resizeHandles val="exact"/>
        </dgm:presLayoutVars>
      </dgm:prSet>
      <dgm:spPr/>
    </dgm:pt>
    <dgm:pt modelId="{D24A3EE9-6062-4B78-AFC7-148AA3FC04D8}" type="pres">
      <dgm:prSet presAssocID="{49DB2772-F965-4208-A49C-C215CF2BFA7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D1E3929-8A1F-4788-A2A2-B19AD6EC7DC8}" type="pres">
      <dgm:prSet presAssocID="{08905B21-2896-4641-83A7-873BDB4FE8FB}" presName="spacer" presStyleCnt="0"/>
      <dgm:spPr/>
    </dgm:pt>
    <dgm:pt modelId="{4DE656AA-08B7-4C5C-93EC-23F2F4DA65C3}" type="pres">
      <dgm:prSet presAssocID="{E069A00A-EF72-41A2-AABC-717C153DE79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D5D991A-2863-4CF5-A761-27CC77CECFF8}" type="pres">
      <dgm:prSet presAssocID="{BE3CB12F-9CC7-470A-A9A1-09B17D1B44EC}" presName="spacer" presStyleCnt="0"/>
      <dgm:spPr/>
    </dgm:pt>
    <dgm:pt modelId="{02E85AEA-B874-482B-90D4-3A3293EC1C80}" type="pres">
      <dgm:prSet presAssocID="{9849BF69-8512-4C6A-8F51-4295C6EBBD9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D44900A-C959-49B3-A0FB-523BC9AF6AB0}" srcId="{F7034C3D-DA2A-436A-A640-B572A39882F0}" destId="{49DB2772-F965-4208-A49C-C215CF2BFA78}" srcOrd="0" destOrd="0" parTransId="{8FF2D070-1BCA-4905-B22A-C46277CF7934}" sibTransId="{08905B21-2896-4641-83A7-873BDB4FE8FB}"/>
    <dgm:cxn modelId="{A744CC0D-0235-45BA-9345-5E67DE6A38C7}" type="presOf" srcId="{9849BF69-8512-4C6A-8F51-4295C6EBBD94}" destId="{02E85AEA-B874-482B-90D4-3A3293EC1C80}" srcOrd="0" destOrd="0" presId="urn:microsoft.com/office/officeart/2005/8/layout/vList2"/>
    <dgm:cxn modelId="{A9C12D20-8653-4091-9C96-287EE7F59582}" type="presOf" srcId="{49DB2772-F965-4208-A49C-C215CF2BFA78}" destId="{D24A3EE9-6062-4B78-AFC7-148AA3FC04D8}" srcOrd="0" destOrd="0" presId="urn:microsoft.com/office/officeart/2005/8/layout/vList2"/>
    <dgm:cxn modelId="{A548542C-ACAE-4C17-BA89-01D48887DCD8}" srcId="{F7034C3D-DA2A-436A-A640-B572A39882F0}" destId="{9849BF69-8512-4C6A-8F51-4295C6EBBD94}" srcOrd="2" destOrd="0" parTransId="{D2BC2DE1-EEEC-44EF-895D-EBAC3E0BD019}" sibTransId="{7398B965-302F-4105-9AA6-B29D7A069B04}"/>
    <dgm:cxn modelId="{7EAF3D5B-6499-4291-B603-930B73DD474E}" type="presOf" srcId="{E069A00A-EF72-41A2-AABC-717C153DE793}" destId="{4DE656AA-08B7-4C5C-93EC-23F2F4DA65C3}" srcOrd="0" destOrd="0" presId="urn:microsoft.com/office/officeart/2005/8/layout/vList2"/>
    <dgm:cxn modelId="{330C36C4-0342-40BD-B138-B17D7E319F25}" srcId="{F7034C3D-DA2A-436A-A640-B572A39882F0}" destId="{E069A00A-EF72-41A2-AABC-717C153DE793}" srcOrd="1" destOrd="0" parTransId="{7E73B0A9-9D88-4CEF-926B-EE7404211220}" sibTransId="{BE3CB12F-9CC7-470A-A9A1-09B17D1B44EC}"/>
    <dgm:cxn modelId="{0B75CAE5-3996-4232-86DD-41AAA2B6B618}" type="presOf" srcId="{F7034C3D-DA2A-436A-A640-B572A39882F0}" destId="{A86A2786-C6D3-45A0-A857-D36069C95DAB}" srcOrd="0" destOrd="0" presId="urn:microsoft.com/office/officeart/2005/8/layout/vList2"/>
    <dgm:cxn modelId="{5161867E-7474-4599-B5BB-73DF20BFEF68}" type="presParOf" srcId="{A86A2786-C6D3-45A0-A857-D36069C95DAB}" destId="{D24A3EE9-6062-4B78-AFC7-148AA3FC04D8}" srcOrd="0" destOrd="0" presId="urn:microsoft.com/office/officeart/2005/8/layout/vList2"/>
    <dgm:cxn modelId="{3DE516FD-655E-42FB-8A9E-BCA095E0080A}" type="presParOf" srcId="{A86A2786-C6D3-45A0-A857-D36069C95DAB}" destId="{3D1E3929-8A1F-4788-A2A2-B19AD6EC7DC8}" srcOrd="1" destOrd="0" presId="urn:microsoft.com/office/officeart/2005/8/layout/vList2"/>
    <dgm:cxn modelId="{99A0C1AF-95FD-43E2-BF26-17D09672C3A3}" type="presParOf" srcId="{A86A2786-C6D3-45A0-A857-D36069C95DAB}" destId="{4DE656AA-08B7-4C5C-93EC-23F2F4DA65C3}" srcOrd="2" destOrd="0" presId="urn:microsoft.com/office/officeart/2005/8/layout/vList2"/>
    <dgm:cxn modelId="{876A4C6C-5077-4839-8003-381CF7EA60EE}" type="presParOf" srcId="{A86A2786-C6D3-45A0-A857-D36069C95DAB}" destId="{9D5D991A-2863-4CF5-A761-27CC77CECFF8}" srcOrd="3" destOrd="0" presId="urn:microsoft.com/office/officeart/2005/8/layout/vList2"/>
    <dgm:cxn modelId="{B6B3FC16-2A5D-49D2-9B52-DAEC1FAE24F4}" type="presParOf" srcId="{A86A2786-C6D3-45A0-A857-D36069C95DAB}" destId="{02E85AEA-B874-482B-90D4-3A3293EC1C8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6C1260-5070-468B-9A0F-D6AF797AF3CD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3C8D1-DDEF-4B59-B736-06F7857D9672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 model that focuses on learning rather than blaming</a:t>
          </a:r>
        </a:p>
      </dsp:txBody>
      <dsp:txXfrm>
        <a:off x="398656" y="1088253"/>
        <a:ext cx="2959127" cy="1837317"/>
      </dsp:txXfrm>
    </dsp:sp>
    <dsp:sp modelId="{088DBD93-D9FA-4D8D-8F58-B872F9326E2A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1AE6CF-C0D8-451B-B9FF-6C1C4734D5C3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Mistakes come from systematic failures not a single person</a:t>
          </a:r>
        </a:p>
      </dsp:txBody>
      <dsp:txXfrm>
        <a:off x="4155097" y="1088253"/>
        <a:ext cx="2959127" cy="1837317"/>
      </dsp:txXfrm>
    </dsp:sp>
    <dsp:sp modelId="{C53FED62-C720-4368-BC27-4E8C50D3AC24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FBDAC-3F7D-4784-B00B-54164EBE77BA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Organizations should respond fairly and consistently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585C8-9355-4CA6-867D-C29FACCEE373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8E423B-7467-42D1-8869-D90E107D4F0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Employees don’t understand how investigations work</a:t>
          </a:r>
        </a:p>
      </dsp:txBody>
      <dsp:txXfrm>
        <a:off x="608661" y="692298"/>
        <a:ext cx="4508047" cy="2799040"/>
      </dsp:txXfrm>
    </dsp:sp>
    <dsp:sp modelId="{50C2397D-23F5-4119-B60A-0D681E4D9D1E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ACA86-5E7D-4A91-BD7E-AD42F94F7A87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The line is blurry between human error and negligence</a:t>
          </a:r>
        </a:p>
      </dsp:txBody>
      <dsp:txXfrm>
        <a:off x="6331365" y="692298"/>
        <a:ext cx="4508047" cy="2799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4A3EE9-6062-4B78-AFC7-148AA3FC04D8}">
      <dsp:nvSpPr>
        <dsp:cNvPr id="0" name=""/>
        <dsp:cNvSpPr/>
      </dsp:nvSpPr>
      <dsp:spPr>
        <a:xfrm>
          <a:off x="0" y="600259"/>
          <a:ext cx="6666833" cy="13525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Staff may feel like Investigations are punishments</a:t>
          </a:r>
        </a:p>
      </dsp:txBody>
      <dsp:txXfrm>
        <a:off x="66025" y="666284"/>
        <a:ext cx="6534783" cy="1220470"/>
      </dsp:txXfrm>
    </dsp:sp>
    <dsp:sp modelId="{4DE656AA-08B7-4C5C-93EC-23F2F4DA65C3}">
      <dsp:nvSpPr>
        <dsp:cNvPr id="0" name=""/>
        <dsp:cNvSpPr/>
      </dsp:nvSpPr>
      <dsp:spPr>
        <a:xfrm>
          <a:off x="0" y="2050699"/>
          <a:ext cx="6666833" cy="135252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Reporting doesn’t lead to visible improvements</a:t>
          </a:r>
        </a:p>
      </dsp:txBody>
      <dsp:txXfrm>
        <a:off x="66025" y="2116724"/>
        <a:ext cx="6534783" cy="1220470"/>
      </dsp:txXfrm>
    </dsp:sp>
    <dsp:sp modelId="{02E85AEA-B874-482B-90D4-3A3293EC1C80}">
      <dsp:nvSpPr>
        <dsp:cNvPr id="0" name=""/>
        <dsp:cNvSpPr/>
      </dsp:nvSpPr>
      <dsp:spPr>
        <a:xfrm>
          <a:off x="0" y="3501140"/>
          <a:ext cx="6666833" cy="135252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Leadership may focus more on compliance compared to learning</a:t>
          </a:r>
        </a:p>
      </dsp:txBody>
      <dsp:txXfrm>
        <a:off x="66025" y="3567165"/>
        <a:ext cx="6534783" cy="1220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5266-191F-72B2-65F9-049450894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D24C6-8DEB-725E-A927-BB69F6666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5FE5B-4645-238A-14FE-EED2B5F0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53D7E-767F-DC33-EEF9-F7FB756E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55075-868D-60A8-8FC4-C6409399E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63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C31C9-DC44-E018-40FB-C89259E34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EFF0B-A8AA-9D53-BA2E-7EC55DD4C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D1F52-1927-4B75-74BE-24E52ACB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5B60A-E006-0EE7-FB36-2D2C5DF23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FAD81-8097-4037-C618-5A9515A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96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6026-3D12-DC52-90CA-3CBE1C821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CC251-F46A-5C10-55C2-2ADAE8362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9202B-37C1-AAB3-1C80-BEBBC4E7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DBB61-8B5E-3460-775E-8CD661A33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7441F-004A-41F2-E9CA-D068E5CC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9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3DB4F-CF32-0760-3724-998CF25D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0A744-6947-5901-2247-9D4AFA32D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FA23B-8DD4-4F9A-4793-4201387DB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901FD-299C-5437-0F7D-011AAD89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98421-8C3B-DF47-39C9-7BC02E77D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2EB2E-EFDC-8674-6E4F-7FE11639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0E7-7B43-F3ED-3FE6-DF8889FCF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14EB7-70ED-26F0-BD66-6C6601047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1EED9-5AC1-48F4-FA7F-B3E11AA22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513792-DDF1-1B26-6141-0CB8478C4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8BC4A-0A80-A6E1-8EED-DECC64A90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E86B6-9368-6FE0-C61C-A57120D98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C1E19-35CE-69A3-5D0E-1A89EAA96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32870A-49B7-48DF-E55C-43CD7C6C2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1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98A7-4B53-7451-F34E-5EA8F4B6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827419-14BE-3130-5178-BC58184E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24B2A-9D5B-FC77-D7B1-5CB9BAEC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0F3FA-AA4B-0336-5C4C-EA0D5D38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5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CFCD9-DE23-C2C5-3052-B68149D0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118762-E872-8378-C052-7A92524A8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E2921-9486-5003-A557-602695C1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29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0C50-98CF-7C8F-AF26-75F93D38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DF85-3DE1-5BAB-6D21-385165266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6ADAE-D429-B3EB-476F-3F32BD1B2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6C529-07DE-73C0-B52E-2FF0450F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2D1DF-F07D-CE39-A844-CD4683905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D7065-7971-DF87-9058-FD918530B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67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6DF3-ED65-8452-4F48-15BB70C0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A6E7E8-CC99-28D7-8AD0-198C31EDC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313A4-0240-DCF6-0085-64554754B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8CA79-BB4E-2CB8-1843-C6753C7C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61EC0-7676-5828-9A35-9928B6F5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1E0E8-8F4D-106C-BE42-C0DB5066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52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A8C6F-FF32-F389-BC04-B4514CD7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4F985-E245-5A40-382B-90E7389DE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12548-2C7F-AA46-B7A9-9E70038B1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74C76-0975-FB18-CF0D-B4E8FAD2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766A3-3160-79A8-9FA1-A477F56EF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15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62A3C-B7FD-6F5B-167D-78FCCD258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0EACD-8C51-87AD-43EE-8D94AF2A1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868A4-792B-3F66-5D5F-1674B316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6ABFB-74E8-D874-88BE-C0491D0CA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FD21A-ECA3-8D12-6367-E8D3F57F2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9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57B097-69F3-E9D0-CD9C-AAD471B14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0F06A-77B8-1E4F-9254-1D9905932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1C0D6-4B6B-2175-522B-99CB7C583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C747B-CC3B-484E-806F-711E497316A1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64D34-E54B-BFB0-2E90-63EA3C1F3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8AB44-8D49-9117-6CCA-541C3D040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E8230-D6BD-4B30-A864-3010BF7DD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13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xford-review.com/the-oxford-review-dei-diversity-equity-and-inclusion-dictionary/just-culture-definition-and-explanation/" TargetMode="External"/><Relationship Id="rId2" Type="http://schemas.openxmlformats.org/officeDocument/2006/relationships/hyperlink" Target="https://justculture.hqa.ca/just-culture-principl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D8CE09-08D8-78FE-5ED0-4C41442FF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Just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BF9A6-D490-DF40-3EA8-C310B1932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By Matthew Rozendaal</a:t>
            </a:r>
          </a:p>
        </p:txBody>
      </p:sp>
      <p:pic>
        <p:nvPicPr>
          <p:cNvPr id="7" name="Graphic 6" descr="Group">
            <a:extLst>
              <a:ext uri="{FF2B5EF4-FFF2-40B4-BE49-F238E27FC236}">
                <a16:creationId xmlns:a16="http://schemas.microsoft.com/office/drawing/2014/main" id="{3AA25078-9781-6263-A305-4B326F47A8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5951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F2F4F-1552-E214-D709-AF647C8C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does Just Culture Mean?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E87765-E701-7B3D-15CF-A633429E4B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640328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1938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E27E43-1903-658F-6EB8-D4D49169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/>
              <a:t>Barrier: Blame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88D84-92A0-E983-D49D-F929675A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/>
              <a:t>Leaders default to punishment</a:t>
            </a:r>
          </a:p>
          <a:p>
            <a:r>
              <a:rPr lang="en-US" sz="2000"/>
              <a:t>Staff may be labeled as careless</a:t>
            </a:r>
          </a:p>
          <a:p>
            <a:r>
              <a:rPr lang="en-US" sz="2000"/>
              <a:t>Severe mistakes can trigger harsher responses</a:t>
            </a:r>
          </a:p>
        </p:txBody>
      </p:sp>
      <p:pic>
        <p:nvPicPr>
          <p:cNvPr id="14" name="Picture 13" descr="Red toy person in front of two lines of white figures">
            <a:extLst>
              <a:ext uri="{FF2B5EF4-FFF2-40B4-BE49-F238E27FC236}">
                <a16:creationId xmlns:a16="http://schemas.microsoft.com/office/drawing/2014/main" id="{1AE6D9E7-4198-47D3-D09D-11A88EBA24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98" r="22541" b="-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3770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C42F8-4F8C-3F28-0758-5E30AB2B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Barrier: Fear of Consequences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39F-2BCB-ED60-C28F-8B8C62078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dirty="0"/>
              <a:t>Fear of Job Loss</a:t>
            </a:r>
          </a:p>
          <a:p>
            <a:r>
              <a:rPr lang="en-US" dirty="0"/>
              <a:t>Legal Consequences</a:t>
            </a:r>
          </a:p>
          <a:p>
            <a:r>
              <a:rPr lang="en-US" dirty="0"/>
              <a:t>Damage to reputation</a:t>
            </a:r>
          </a:p>
          <a:p>
            <a:r>
              <a:rPr lang="en-US" dirty="0"/>
              <a:t>Being humiliated</a:t>
            </a:r>
          </a:p>
        </p:txBody>
      </p:sp>
    </p:spTree>
    <p:extLst>
      <p:ext uri="{BB962C8B-B14F-4D97-AF65-F5344CB8AC3E}">
        <p14:creationId xmlns:p14="http://schemas.microsoft.com/office/powerpoint/2010/main" val="215336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874487-69C2-AA59-D0F1-18EBD4B0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Barrier: Lack of Transparency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BC373B-61DB-D7EC-CDFB-8DA83DBB0B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584069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8122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C6A420-B142-59AD-FBA5-56E8F8F2B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Barrier: Negativity toward Investigations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4C6792-26C3-13A0-CB25-4A0D9A090A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459539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8021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o alternative text description for this image">
            <a:extLst>
              <a:ext uri="{FF2B5EF4-FFF2-40B4-BE49-F238E27FC236}">
                <a16:creationId xmlns:a16="http://schemas.microsoft.com/office/drawing/2014/main" id="{0A41369D-ECC7-FBEE-CA74-B76F0ACED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89" y="714265"/>
            <a:ext cx="3879221" cy="5818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7B6563-6F73-B079-C9FD-E885BA9EB30D}"/>
              </a:ext>
            </a:extLst>
          </p:cNvPr>
          <p:cNvSpPr txBox="1"/>
          <p:nvPr/>
        </p:nvSpPr>
        <p:spPr>
          <a:xfrm>
            <a:off x="9701784" y="6163765"/>
            <a:ext cx="169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(Malviya, 2025)</a:t>
            </a:r>
          </a:p>
        </p:txBody>
      </p:sp>
    </p:spTree>
    <p:extLst>
      <p:ext uri="{BB962C8B-B14F-4D97-AF65-F5344CB8AC3E}">
        <p14:creationId xmlns:p14="http://schemas.microsoft.com/office/powerpoint/2010/main" val="2174787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E2E23-6AA7-1FAB-766C-75199385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D5AC1-F807-ABC0-E559-3217C4282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800" i="1"/>
              <a:t>Just Culture Overview</a:t>
            </a:r>
            <a:r>
              <a:rPr lang="en-US" sz="1800"/>
              <a:t>. (n.d.). Retrieved July 7, 2026, from https://stanfordhealthcare.org/content/dam/SHC/health-care-professionals/medical-staff/annual-physician-education/justculturesep2025.pdf</a:t>
            </a:r>
            <a:endParaRPr lang="en-US" sz="1800" i="1"/>
          </a:p>
          <a:p>
            <a:r>
              <a:rPr lang="en-US" sz="1800" i="1"/>
              <a:t>Just Culture Principles – Health Quality Alberta- Just Culture</a:t>
            </a:r>
            <a:r>
              <a:rPr lang="en-US" sz="1800"/>
              <a:t>. (2026). </a:t>
            </a:r>
            <a:r>
              <a:rPr lang="en-US" sz="1800" err="1"/>
              <a:t>Justculture.Hqa.Ca</a:t>
            </a:r>
            <a:r>
              <a:rPr lang="en-US" sz="1800"/>
              <a:t>. </a:t>
            </a:r>
            <a:r>
              <a:rPr lang="en-US" sz="1800">
                <a:hlinkClick r:id="rId2"/>
              </a:rPr>
              <a:t>https://justculture.hqa.ca/just-culture-principles</a:t>
            </a:r>
            <a:endParaRPr lang="en-US" sz="1800"/>
          </a:p>
          <a:p>
            <a:r>
              <a:rPr lang="en-US" sz="1800"/>
              <a:t>Sofronio </a:t>
            </a:r>
            <a:r>
              <a:rPr lang="en-US" sz="1800" err="1"/>
              <a:t>Jadulco</a:t>
            </a:r>
            <a:r>
              <a:rPr lang="en-US" sz="1800"/>
              <a:t>. (2025, February 28). </a:t>
            </a:r>
            <a:r>
              <a:rPr lang="en-US" sz="1800" i="1"/>
              <a:t>Just Culture - Definition and Explanation</a:t>
            </a:r>
            <a:r>
              <a:rPr lang="en-US" sz="1800"/>
              <a:t>. The Oxford Review - OR Briefings. </a:t>
            </a:r>
            <a:r>
              <a:rPr lang="en-US" sz="1800">
                <a:hlinkClick r:id="rId3"/>
              </a:rPr>
              <a:t>https://oxford-review.com/the-oxford-review-dei-diversity-equity-and-inclusion-dictionary/just-culture-definition-and-explanation/</a:t>
            </a:r>
            <a:endParaRPr lang="en-US" sz="1800"/>
          </a:p>
          <a:p>
            <a:r>
              <a:rPr lang="en-US" sz="1800"/>
              <a:t>Malviya, K. (2025, August 7). Barriers to implementing a World-Class Safety Culture. </a:t>
            </a:r>
            <a:r>
              <a:rPr lang="en-US" sz="1800" i="1"/>
              <a:t>LinkedIn</a:t>
            </a:r>
            <a:r>
              <a:rPr lang="en-US" sz="1800"/>
              <a:t>. https://www.linkedin.com/posts/kamesh-malviya-a5871434_safetyculture-workplacesafety-leadership-activity-7354468122331901953-1BL6?utm_source=share&amp;utm_medium=member_desktop&amp;rcm=ACoAACAEkJEBvik8LVdNesLWV-hkX-Wh21gCuzI</a:t>
            </a:r>
          </a:p>
          <a:p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1589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273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Just Culture</vt:lpstr>
      <vt:lpstr>What does Just Culture Mean?</vt:lpstr>
      <vt:lpstr>Barrier: Blame Culture</vt:lpstr>
      <vt:lpstr>Barrier: Fear of Consequences</vt:lpstr>
      <vt:lpstr>Barrier: Lack of Transparency</vt:lpstr>
      <vt:lpstr>Barrier: Negativity toward Investigations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rozendaal</dc:creator>
  <cp:lastModifiedBy>matthew rozendaal</cp:lastModifiedBy>
  <cp:revision>1</cp:revision>
  <dcterms:created xsi:type="dcterms:W3CDTF">2026-07-08T03:06:13Z</dcterms:created>
  <dcterms:modified xsi:type="dcterms:W3CDTF">2026-07-08T03:26:26Z</dcterms:modified>
</cp:coreProperties>
</file>